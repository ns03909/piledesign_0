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029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A9C4E4"/>
                </a:solidFill>
                <a:latin typeface="Yu Gothic UI"/>
              </a:rPr>
              <a:t>杭基礎検討プログラム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Yu Gothic UI"/>
              </a:rPr>
              <a:t>この 4 か月半で変わったこと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1188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C5D6EA"/>
                </a:solidFill>
                <a:latin typeface="Yu Gothic UI"/>
              </a:rPr>
              <a:t>機能の追加と、使い勝手の改善を中心に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8DB"/>
                </a:solidFill>
                <a:latin typeface="Yu Gothic UI"/>
              </a:rPr>
              <a:t>2026 年 4 月 21 日 〜 9 月 6 日   /   v1.0.4-beta → v1.0.30-beta（22 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全体像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5D6EA"/>
                </a:solidFill>
                <a:latin typeface="Yu Gothic UI"/>
              </a:rPr>
              <a:t>4 か月半で 388 コミット・22 版。次の 3 つを進めました。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Yu Gothic U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139" y="1417320"/>
            <a:ext cx="3520440" cy="23317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139" y="1417320"/>
            <a:ext cx="3520440" cy="685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459" y="16916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E74B5"/>
                </a:solidFill>
                <a:latin typeface="Yu Gothic UI"/>
              </a:rPr>
              <a:t>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355E"/>
                </a:solidFill>
                <a:latin typeface="Yu Gothic UI"/>
              </a:rPr>
              <a:t>検討できる対象を広げた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杭工法・杭断面・設計法を追加。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メーカー製品を選ぶだけで諸元が入る。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5627" y="1417320"/>
            <a:ext cx="3520440" cy="23317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1417320"/>
            <a:ext cx="3520440" cy="685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9947" y="16916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E74B5"/>
                </a:solidFill>
                <a:latin typeface="Yu Gothic UI"/>
              </a:rPr>
              <a:t>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355E"/>
                </a:solidFill>
                <a:latin typeface="Yu Gothic UI"/>
              </a:rPr>
              <a:t>結果が読めるようになった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検定を数値（検定比）で表示。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図と計算書に、そのまま出る。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0115" y="1417320"/>
            <a:ext cx="3520440" cy="23317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0115" y="1417320"/>
            <a:ext cx="3520440" cy="685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4435" y="16916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E74B5"/>
                </a:solidFill>
                <a:latin typeface="Yu Gothic UI"/>
              </a:rPr>
              <a:t>3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355E"/>
                </a:solidFill>
                <a:latin typeface="Yu Gothic UI"/>
              </a:rPr>
              <a:t>日々の操作を軽くした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画面を刷新し、待ち時間を減らし、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A3A3A"/>
                </a:solidFill>
                <a:latin typeface="Yu Gothic UI"/>
              </a:rPr>
              <a:t>入力のやり直しを減らした。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874959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370832"/>
            <a:ext cx="27187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F355E"/>
                </a:solidFill>
                <a:latin typeface="Yu Gothic UI"/>
              </a:rPr>
              <a:t>22 版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Yu Gothic UI"/>
              </a:rPr>
              <a:t>1.0.4-beta → 1.0.30-beta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7107" y="4370832"/>
            <a:ext cx="27187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F355E"/>
                </a:solidFill>
                <a:latin typeface="Yu Gothic UI"/>
              </a:rPr>
              <a:t>388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Yu Gothic UI"/>
              </a:rPr>
              <a:t>コミット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370832"/>
            <a:ext cx="27187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F355E"/>
                </a:solidFill>
                <a:latin typeface="Yu Gothic UI"/>
              </a:rPr>
              <a:t>約 1,500 件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Yu Gothic UI"/>
              </a:rPr>
              <a:t>自動テスト（4 月は 295 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587" y="4370832"/>
            <a:ext cx="27187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F355E"/>
                </a:solidFill>
                <a:latin typeface="Yu Gothic UI"/>
              </a:rPr>
              <a:t>45 / 45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Yu Gothic UI"/>
              </a:rPr>
              <a:t>文献値と一致した照合項目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150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Yu Gothic UI"/>
              </a:rPr>
              <a:t>※ 不具合の修正もあわせて進めましたが、本資料では機能と使い勝手を中心に説明します（全件は CHANGELOG.md に記録）。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① 検討できる対象を広げた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5D6EA"/>
                </a:solidFill>
                <a:latin typeface="Yu Gothic UI"/>
              </a:rPr>
              <a:t>扱える工法・断面・設計法が増え、製品を選ぶだけで諸元が入ります。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Yu Gothic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杭工法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・キャプリングパイル工法（杭頭の半剛接合）／鋼管杭＋鉄筋定着工法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・Smart-MAGNUM 工法（ジャパンパイル）の支持力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・Hybrid ニーディング工法（三谷セキサン）の支持力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・KCTB（TB 工法）による場所打ち鋼管コンクリート杭の設計法</a:t>
            </a: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杭断面と製品ライブラリ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・PHC 節杭・PRC 節杭・BF.S パイル（頭部厚型節付き杭）を追加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・メーカー製品 1,469 行を収録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JP-NPH／JP-NPRC／BF.S／MS-hi105／Hi-SC105／DAM105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・製品を選べば諸元が入り、規格の違いは諸元表が知らせます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設計法の選択肢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・2025 年版 技術基準解説書 付録 1-3 に準拠するオプション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告示 1113（第 8）の許容圧縮・許容せん断へ切替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・材料のモデル化を基本設定で選択（全 9 項目）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Ec の ξ＝1.0／圧縮 0.85Fc／鉄筋・鋼管の 1.1F バイリニア ほか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・許容時 N-M を「ファイバーモデル」と「単純累加」から選択</a:t>
            </a: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解析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・ファイバーモデル M-φ をコンクリート系の全杭種へ拡大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・地盤水平変位に第 3 の算定法「応答スペクトル法」を追加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・地盤 p-y の非線形性を 3 段階から荷重ケースごとに選択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・基準水平地盤反力係数 kh0 を土層ごとに手入力で上書き可能に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596128"/>
            <a:ext cx="10874959" cy="7315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87568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F355E"/>
                </a:solidFill>
                <a:latin typeface="Yu Gothic UI"/>
              </a:rPr>
              <a:t>工法と製品を選べば、諸元・支持力・耐力の算定までそのまま通ります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② 結果が読めるようになった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5D6EA"/>
                </a:solidFill>
                <a:latin typeface="Yu Gothic UI"/>
              </a:rPr>
              <a:t>「OK / NG」だけだった検定を、数値と色で示すようにしました。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Yu Gothic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検定を数値に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・検定比と支配ケースを表示。余裕がどれだけ有るかが分かります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・検定項目を拡張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鉛直支持力（押込み・引抜き）／杭体のせん断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杭頭 2 点間の変形角／長期（常時）の曲げ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・支持力の検定を計算書 (docx) にも出力</a:t>
            </a: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見せ方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・解析結果ダッシュボードを「検定の総括」に作り替え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・杭配置図を検定比で色分け。杭にマウスを近づけると、
　  その部位ごとの検定比を表示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・収束しなかったケースは、OK でも NG でもなく「未収束」と表示</a:t>
            </a:r>
          </a:p>
        </p:txBody>
      </p:sp>
      <p:pic>
        <p:nvPicPr>
          <p:cNvPr id="7" name="Picture 6" descr="plan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89888"/>
            <a:ext cx="5669280" cy="3033065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897880" y="450799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Yu Gothic UI"/>
              </a:rPr>
              <a:t>平面図を検定比で色分けし、ホバーで内訳を表示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873752"/>
            <a:ext cx="3611880" cy="1932356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692640" y="5577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Yu Gothic UI"/>
              </a:rPr>
              <a:t>検定の総括
ダッシュボード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③ 日々の操作を軽くした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5D6EA"/>
                </a:solidFill>
                <a:latin typeface="Yu Gothic UI"/>
              </a:rPr>
              <a:t>画面・入力・計算書の、手数と待ち時間を減らしました。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Yu Gothic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画面と操作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・UI を全面刷新（リボン、ファイルメニューに計算例 11 例題）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・全 18 ウィンドウでキーボード操作を統一。ショートカット一覧を常設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・コマンドパレット (Ctrl+Shift+P)、編集履歴パネル、ヘルプチャット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・押せないボタン・効かないキーは、理由をその場で表示</a:t>
            </a: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入力のやり直しを減らす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・入力を変えても解析結果が消えない（解析時の入力ごと保持）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・表の一括貼り付け・Delete クリア・まとめて Undo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・.json のドラッグ＆ドロップ、コマンドラインからの起動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・群杭沈下の入力を独立ウィンドウ (F8) に分離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計算書 (docx)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・検定結果を Word の表に。主要な表に表番号と表題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・杭のモデル図を杭ごとに出力。印刷して読める文字サイズに作り直し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・「計算条件・仮定」章を新設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　単位系・符号規約・選んだ材料オプションを明記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・解析後に条件を変えて出力した場合は、注意書きを表示</a:t>
            </a: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300"/>
              </a:spcAft>
            </a:pPr>
            <a:r>
              <a:rPr sz="1600" b="1">
                <a:solidFill>
                  <a:srgbClr val="1F355E"/>
                </a:solidFill>
                <a:latin typeface="Yu Gothic UI"/>
              </a:rPr>
              <a:t>速さ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・水平解析 76% 短縮（2,448 秒 → 588 秒）。荷重ケースは並列実行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626"/>
                </a:solidFill>
                <a:latin typeface="Yu Gothic UI"/>
              </a:rPr>
              <a:t>・計算書の出力 5 倍（13 秒 → 2.6 秒）、Undo 8〜9 倍</a:t>
            </a:r>
          </a:p>
        </p:txBody>
      </p:sp>
      <p:pic>
        <p:nvPicPr>
          <p:cNvPr id="8" name="Picture 7" descr="repo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846320"/>
            <a:ext cx="1417320" cy="1944878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01000" y="55046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Yu Gothic UI"/>
              </a:rPr>
              <a:t>計算書のページ（図と表を作り直しました）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確からしさをどう担保しているか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5D6EA"/>
                </a:solidFill>
                <a:latin typeface="Yu Gothic UI"/>
              </a:rPr>
              <a:t>結果が変わる修正も含むため、検証の仕組みを同時に増やしました。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Yu Gothic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1F355E"/>
                </a:solidFill>
                <a:latin typeface="Yu Gothic UI"/>
              </a:rPr>
              <a:t>文献との照合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・文献に数値として書かれた 45 項目を計算し、45 項目すべてが許容内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・出典と値を 1 か所に持ち、テストが照合したうえで検証ウィンドウと README の
　  表を自動生成。表とテストが食い違わないようにしています</a:t>
            </a: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300"/>
              </a:spcAft>
            </a:pPr>
            <a:r>
              <a:rPr sz="1550" b="1">
                <a:solidFill>
                  <a:srgbClr val="1F355E"/>
                </a:solidFill>
                <a:latin typeface="Yu Gothic UI"/>
              </a:rPr>
              <a:t>自動テスト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・テスト 295 件 → 約 1,500 件（約 5 倍）。GitHub Actions で毎回自動実行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・「ビルドは通るが実行時に静かに壊れる」種類の不具合を、画面定義・コマンド・
　  ヘルプ・用語・メッセージまで機械的に検査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・同じ入力なら毎回まったく同じ結果になることを検証</a:t>
            </a: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300"/>
              </a:spcAft>
            </a:pPr>
            <a:r>
              <a:rPr sz="1550" b="1">
                <a:solidFill>
                  <a:srgbClr val="1F355E"/>
                </a:solidFill>
                <a:latin typeface="Yu Gothic UI"/>
              </a:rPr>
              <a:t>不具合の修正（本資料では詳細を割愛）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Yu Gothic UI"/>
              </a:rPr>
              <a:t>・結果が変わる修正を含め継続的に対応。全件を CHANGELOG.md に、
　  利用者向けの概要をヘルプの更新履歴に記録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10874959" cy="7315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69280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F355E"/>
                </a:solidFill>
                <a:latin typeface="Yu Gothic UI"/>
              </a:rPr>
              <a:t>この先 ─ 計算書の目次と総括表、解析の進行表示、製品名まわりの整理を予定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